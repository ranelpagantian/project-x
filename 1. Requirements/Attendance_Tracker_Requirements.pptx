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Diamond 14"/>
          <p:cNvSpPr/>
          <p:nvPr/>
        </p:nvSpPr>
        <p:spPr>
          <a:xfrm>
            <a:off x="7146925" y="331787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2" name="Diamond 21"/>
          <p:cNvSpPr/>
          <p:nvPr/>
        </p:nvSpPr>
        <p:spPr>
          <a:xfrm>
            <a:off x="8725535" y="262255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1" name="Diamond 20"/>
          <p:cNvSpPr/>
          <p:nvPr/>
        </p:nvSpPr>
        <p:spPr>
          <a:xfrm>
            <a:off x="-1355090" y="286702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41020" y="331787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9" name="Diamond 8"/>
          <p:cNvSpPr/>
          <p:nvPr/>
        </p:nvSpPr>
        <p:spPr>
          <a:xfrm>
            <a:off x="-542290" y="447865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" name="Diamond 9"/>
          <p:cNvSpPr/>
          <p:nvPr/>
        </p:nvSpPr>
        <p:spPr>
          <a:xfrm>
            <a:off x="-1612265" y="578104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Diamond 10"/>
          <p:cNvSpPr/>
          <p:nvPr/>
        </p:nvSpPr>
        <p:spPr>
          <a:xfrm>
            <a:off x="541020" y="578104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2" name="Diamond 11"/>
          <p:cNvSpPr/>
          <p:nvPr/>
        </p:nvSpPr>
        <p:spPr>
          <a:xfrm>
            <a:off x="1654175" y="447865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2694305" y="578104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Diamond 13"/>
          <p:cNvSpPr/>
          <p:nvPr/>
        </p:nvSpPr>
        <p:spPr>
          <a:xfrm>
            <a:off x="4920615" y="578104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7" name="Diamond 16"/>
          <p:cNvSpPr/>
          <p:nvPr/>
        </p:nvSpPr>
        <p:spPr>
          <a:xfrm>
            <a:off x="6085205" y="458660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7146925" y="578104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9" name="Diamond 18"/>
          <p:cNvSpPr/>
          <p:nvPr/>
        </p:nvSpPr>
        <p:spPr>
          <a:xfrm>
            <a:off x="8290560" y="458660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-166370" y="-635"/>
            <a:ext cx="9439910" cy="38093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135" y="1331913"/>
            <a:ext cx="8229600" cy="1143000"/>
          </a:xfrm>
        </p:spPr>
        <p:txBody>
          <a:bodyPr>
            <a:normAutofit fontScale="90000"/>
          </a:bodyPr>
          <a:lstStyle/>
          <a:p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Attendance Tracking System</a:t>
            </a:r>
            <a:b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 Project Requirements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135" y="3124200"/>
            <a:ext cx="8229600" cy="608965"/>
          </a:xfrm>
        </p:spPr>
        <p:txBody>
          <a:bodyPr>
            <a:normAutofit lnSpcReduction="20000"/>
          </a:bodyPr>
          <a:lstStyle/>
          <a:p>
            <a:pPr marL="0" indent="0" algn="ctr">
              <a:buNone/>
            </a:pPr>
            <a:r>
              <a:rPr lang="en-PH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Final </a:t>
            </a:r>
            <a:r>
              <a:rPr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Requirements Document</a:t>
            </a: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 algn="ctr">
              <a:buNone/>
            </a:pPr>
            <a:endParaRPr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93315" y="4189730"/>
            <a:ext cx="4572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PH" i="1">
                <a:latin typeface="+mj-lt"/>
                <a:cs typeface="+mj-lt"/>
                <a:sym typeface="+mn-ea"/>
              </a:rPr>
              <a:t>Presented by: </a:t>
            </a:r>
            <a:r>
              <a:rPr lang="en-US" altLang="en-PH" i="1">
                <a:latin typeface="+mj-lt"/>
                <a:cs typeface="+mj-lt"/>
                <a:sym typeface="+mn-ea"/>
              </a:rPr>
              <a:t>Wak Kahango</a:t>
            </a:r>
            <a:endParaRPr lang="en-PH" i="1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en-PH" i="1">
                <a:latin typeface="+mj-lt"/>
                <a:cs typeface="+mj-lt"/>
                <a:sym typeface="+mn-ea"/>
              </a:rPr>
              <a:t>Ranel M. Pagantian</a:t>
            </a:r>
            <a:endParaRPr lang="en-US" altLang="en-PH" i="1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en-PH" i="1">
                <a:latin typeface="+mj-lt"/>
                <a:cs typeface="+mj-lt"/>
                <a:sym typeface="+mn-ea"/>
              </a:rPr>
              <a:t>Darvey M. Quimbo</a:t>
            </a:r>
            <a:endParaRPr lang="en-US" altLang="en-PH" i="1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en-PH" i="1">
                <a:latin typeface="+mj-lt"/>
                <a:cs typeface="+mj-lt"/>
                <a:sym typeface="+mn-ea"/>
              </a:rPr>
              <a:t>Gella Marie Elayde Loginsa</a:t>
            </a:r>
            <a:endParaRPr lang="en-US" altLang="en-PH" i="1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PH" sz="320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1. </a:t>
            </a:r>
            <a:r>
              <a:rPr sz="320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User Management Requirements</a:t>
            </a:r>
            <a:endParaRPr sz="320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i="1"/>
              <a:t>R01</a:t>
            </a:r>
            <a:r>
              <a:rPr lang="en-US" altLang="en-US" sz="1800" i="1"/>
              <a:t>. The system must allow authorized user to register students and instructors.</a:t>
            </a:r>
            <a:endParaRPr lang="en-US" altLang="en-US" sz="1800" i="1"/>
          </a:p>
          <a:p>
            <a:pPr marL="0" indent="0">
              <a:buNone/>
            </a:pPr>
            <a:endParaRPr lang="en-US" altLang="en-US" sz="1800" i="1"/>
          </a:p>
          <a:p>
            <a:r>
              <a:rPr lang="en-US" altLang="en-US" sz="1800" i="1"/>
              <a:t></a:t>
            </a:r>
            <a:r>
              <a:rPr lang="en-US" altLang="en-US" sz="1800" b="1" i="1"/>
              <a:t>R01.01</a:t>
            </a:r>
            <a:r>
              <a:rPr lang="en-US" altLang="en-US" sz="1800" i="1"/>
              <a:t> Authorized user must be able to upload student ID photos along with personal details (full name, student ID, year level, program, and faculty) during registration.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i="1"/>
              <a:t></a:t>
            </a:r>
            <a:r>
              <a:rPr lang="en-US" altLang="en-US" sz="1800" b="1" i="1"/>
              <a:t>R01.02 </a:t>
            </a:r>
            <a:r>
              <a:rPr lang="en-US" altLang="en-US" sz="1800" i="1"/>
              <a:t>The system must allow authorized user to remove students or instructors from the system.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i="1"/>
              <a:t></a:t>
            </a:r>
            <a:r>
              <a:rPr lang="en-US" altLang="en-US" sz="1800" b="1" i="1"/>
              <a:t>R01.03</a:t>
            </a:r>
            <a:r>
              <a:rPr lang="en-US" altLang="en-US" sz="1800" i="1"/>
              <a:t> Authorized user must have the authority to unregister an instructor’s phone if necessary.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i="1"/>
              <a:t></a:t>
            </a:r>
            <a:r>
              <a:rPr lang="en-US" altLang="en-US" sz="1800" b="1" i="1"/>
              <a:t>R01.04 </a:t>
            </a:r>
            <a:r>
              <a:rPr lang="en-US" altLang="en-US" sz="1800" i="1"/>
              <a:t>Only authorized users can access specific features.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i="1"/>
              <a:t></a:t>
            </a:r>
            <a:r>
              <a:rPr lang="en-US" altLang="en-US" sz="1800" b="1" i="1"/>
              <a:t>R01.05</a:t>
            </a:r>
            <a:r>
              <a:rPr lang="en-US" altLang="en-US" sz="1800" i="1"/>
              <a:t> Only authorized users can locate lost registered devices of the instructor.</a:t>
            </a:r>
            <a:endParaRPr lang="en-US" altLang="en-US" sz="18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0" y="635"/>
            <a:ext cx="9144000" cy="14173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28125" cy="1143000"/>
          </a:xfrm>
        </p:spPr>
        <p:txBody>
          <a:bodyPr>
            <a:noAutofit/>
          </a:bodyPr>
          <a:lstStyle/>
          <a:p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2. Attendance Tracking Requirements</a:t>
            </a:r>
            <a:endParaRPr lang="en-US" altLang="en-US" sz="32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i="1"/>
              <a:t>R02. </a:t>
            </a:r>
            <a:r>
              <a:rPr lang="en-US" altLang="en-US" sz="1800" i="1"/>
              <a:t>The system must provide attendance tracking functionality for instructors.</a:t>
            </a:r>
            <a:endParaRPr lang="en-US" altLang="en-US" sz="1800" i="1"/>
          </a:p>
          <a:p>
            <a:pPr marL="0" indent="0">
              <a:buNone/>
            </a:pPr>
            <a:endParaRPr lang="en-US" altLang="en-US" sz="1800" i="1"/>
          </a:p>
          <a:p>
            <a:r>
              <a:rPr lang="en-US" altLang="en-US" sz="1800" b="1" i="1"/>
              <a:t>R02.0</a:t>
            </a:r>
            <a:r>
              <a:rPr lang="en-PH" altLang="en-US" sz="1800" b="1" i="1"/>
              <a:t>1</a:t>
            </a:r>
            <a:r>
              <a:rPr lang="en-US" altLang="en-US" sz="1800" i="1"/>
              <a:t> Instructors must be able to take attendance using ID Barcode scanning via registered devices (phones or laptops).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b="1" i="1"/>
              <a:t>R02.0</a:t>
            </a:r>
            <a:r>
              <a:rPr lang="en-PH" altLang="en-US" sz="1800" b="1" i="1"/>
              <a:t>2</a:t>
            </a:r>
            <a:r>
              <a:rPr lang="en-US" altLang="en-US" sz="1800" b="1" i="1"/>
              <a:t> </a:t>
            </a:r>
            <a:r>
              <a:rPr lang="en-US" altLang="en-US" sz="1800" i="1"/>
              <a:t>The system must allow instructors to drop students who have accumulated three consecutive absences.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b="1" i="1"/>
              <a:t>R02.0</a:t>
            </a:r>
            <a:r>
              <a:rPr lang="en-PH" altLang="en-US" sz="1800" b="1" i="1"/>
              <a:t>3</a:t>
            </a:r>
            <a:r>
              <a:rPr lang="en-US" altLang="en-US" sz="1800" i="1"/>
              <a:t> The </a:t>
            </a:r>
            <a:r>
              <a:rPr lang="en-PH" altLang="en-US" sz="1800" i="1"/>
              <a:t>Intrusctors must have the option to drop students who accumulated three consicutive absences</a:t>
            </a:r>
            <a:endParaRPr lang="en-PH" altLang="en-US" sz="1800" i="1"/>
          </a:p>
          <a:p>
            <a:endParaRPr lang="en-US" altLang="en-US" sz="1800" i="1"/>
          </a:p>
          <a:p>
            <a:r>
              <a:rPr lang="en-PH" altLang="en-US" sz="1800" b="1" i="1">
                <a:sym typeface="+mn-ea"/>
              </a:rPr>
              <a:t>    </a:t>
            </a:r>
            <a:r>
              <a:rPr lang="en-US" altLang="en-US" sz="1800" b="1" i="1">
                <a:sym typeface="+mn-ea"/>
              </a:rPr>
              <a:t>R02.0</a:t>
            </a:r>
            <a:r>
              <a:rPr lang="en-PH" altLang="en-US" sz="1800" b="1" i="1">
                <a:sym typeface="+mn-ea"/>
              </a:rPr>
              <a:t>4</a:t>
            </a:r>
            <a:r>
              <a:rPr lang="en-US" altLang="en-US" sz="1800" i="1">
                <a:sym typeface="+mn-ea"/>
              </a:rPr>
              <a:t> The system must generate attendance report for authorized users.</a:t>
            </a:r>
            <a:endParaRPr lang="en-US" altLang="en-US" sz="1800" i="1"/>
          </a:p>
          <a:p>
            <a:endParaRPr lang="en-US" altLang="en-US" sz="1800" i="1"/>
          </a:p>
          <a:p>
            <a:r>
              <a:rPr lang="en-US" altLang="en-US" sz="1800" i="1"/>
              <a:t></a:t>
            </a:r>
            <a:r>
              <a:rPr lang="en-US" altLang="en-US" sz="1800" b="1" i="1"/>
              <a:t>R02.0</a:t>
            </a:r>
            <a:r>
              <a:rPr lang="en-PH" altLang="en-US" sz="1800" b="1" i="1"/>
              <a:t>5</a:t>
            </a:r>
            <a:r>
              <a:rPr lang="en-US" altLang="en-US" sz="1800" b="1" i="1"/>
              <a:t> </a:t>
            </a:r>
            <a:r>
              <a:rPr lang="en-US" altLang="en-US" sz="1800" i="1"/>
              <a:t>Students must be able to view their attendance records per course.</a:t>
            </a:r>
            <a:endParaRPr lang="en-US" altLang="en-US" sz="18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3. Security Requirements</a:t>
            </a:r>
            <a:endParaRPr lang="en-US" altLang="en-US" sz="32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 b="1" i="1"/>
              <a:t>R0</a:t>
            </a:r>
            <a:r>
              <a:rPr lang="en-PH" altLang="en-US" b="1" i="1"/>
              <a:t>3</a:t>
            </a:r>
            <a:r>
              <a:rPr lang="en-US" altLang="en-US" b="1" i="1"/>
              <a:t>.</a:t>
            </a:r>
            <a:r>
              <a:rPr lang="en-US" altLang="en-US" i="1"/>
              <a:t> The system must implement strong security measures to protect data integrity.</a:t>
            </a:r>
            <a:endParaRPr lang="en-US" altLang="en-US" i="1"/>
          </a:p>
          <a:p>
            <a:pPr marL="0" indent="0">
              <a:buNone/>
            </a:pPr>
            <a:endParaRPr lang="en-US" altLang="en-US" i="1"/>
          </a:p>
          <a:p>
            <a:r>
              <a:rPr lang="en-US" altLang="en-US" i="1"/>
              <a:t></a:t>
            </a:r>
            <a:r>
              <a:rPr lang="en-US" altLang="en-US" b="1" i="1"/>
              <a:t>R</a:t>
            </a:r>
            <a:r>
              <a:rPr lang="en-PH" altLang="en-US" b="1" i="1"/>
              <a:t>03</a:t>
            </a:r>
            <a:r>
              <a:rPr lang="en-US" altLang="en-US" b="1" i="1"/>
              <a:t>.01</a:t>
            </a:r>
            <a:r>
              <a:rPr lang="en-US" altLang="en-US" i="1"/>
              <a:t> Role-Based Access Control (RBAC) must be enforced to restrict access to sensitive data.</a:t>
            </a:r>
            <a:endParaRPr lang="en-US" altLang="en-US" i="1"/>
          </a:p>
          <a:p>
            <a:endParaRPr lang="en-US" altLang="en-US" i="1"/>
          </a:p>
          <a:p>
            <a:r>
              <a:rPr lang="en-US" altLang="en-US" b="1" i="1"/>
              <a:t>R0</a:t>
            </a:r>
            <a:r>
              <a:rPr lang="en-PH" altLang="en-US" b="1" i="1"/>
              <a:t>3</a:t>
            </a:r>
            <a:r>
              <a:rPr lang="en-US" altLang="en-US" b="1" i="1"/>
              <a:t>.02</a:t>
            </a:r>
            <a:r>
              <a:rPr lang="en-US" altLang="en-US" i="1"/>
              <a:t> Admin-controlled data encryption must be used to ensure data confidentiality.</a:t>
            </a:r>
            <a:endParaRPr lang="en-US" altLang="en-US" i="1"/>
          </a:p>
          <a:p>
            <a:endParaRPr lang="en-US" altLang="en-US" i="1"/>
          </a:p>
          <a:p>
            <a:r>
              <a:rPr lang="en-US" altLang="en-US" i="1"/>
              <a:t></a:t>
            </a:r>
            <a:r>
              <a:rPr lang="en-US" altLang="en-US" b="1" i="1"/>
              <a:t>R0</a:t>
            </a:r>
            <a:r>
              <a:rPr lang="en-PH" altLang="en-US" b="1" i="1"/>
              <a:t>3</a:t>
            </a:r>
            <a:r>
              <a:rPr lang="en-US" altLang="en-US" b="1" i="1"/>
              <a:t>.03</a:t>
            </a:r>
            <a:r>
              <a:rPr lang="en-US" altLang="en-US" i="1"/>
              <a:t> Multi-Factor Authentication (MFA) must be required for instructor logins.</a:t>
            </a:r>
            <a:endParaRPr lang="en-US" altLang="en-US" i="1"/>
          </a:p>
          <a:p>
            <a:endParaRPr lang="en-US" altLang="en-US" i="1"/>
          </a:p>
          <a:p>
            <a:r>
              <a:rPr lang="en-US" altLang="en-US" i="1"/>
              <a:t></a:t>
            </a:r>
            <a:r>
              <a:rPr lang="en-US" altLang="en-US" b="1" i="1"/>
              <a:t>R0</a:t>
            </a:r>
            <a:r>
              <a:rPr lang="en-PH" altLang="en-US" b="1" i="1"/>
              <a:t>3</a:t>
            </a:r>
            <a:r>
              <a:rPr lang="en-US" altLang="en-US" b="1" i="1"/>
              <a:t>.04</a:t>
            </a:r>
            <a:r>
              <a:rPr lang="en-US" altLang="en-US" i="1"/>
              <a:t> The system must operate over HTTPS using SSL security protocols.</a:t>
            </a:r>
            <a:endParaRPr lang="en-US" altLang="en-US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altLang="en-US" sz="3555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4</a:t>
            </a:r>
            <a:r>
              <a:rPr lang="en-US" altLang="en-US" sz="3555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. Infrastructure &amp; Deployment Requirements</a:t>
            </a:r>
            <a:endParaRPr lang="en-US" altLang="en-US" sz="3555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900" b="1" i="1"/>
              <a:t>R0</a:t>
            </a:r>
            <a:r>
              <a:rPr lang="en-PH" altLang="en-US" sz="1900" b="1" i="1"/>
              <a:t>4</a:t>
            </a:r>
            <a:r>
              <a:rPr lang="en-US" altLang="en-US" sz="1900" b="1" i="1"/>
              <a:t>. </a:t>
            </a:r>
            <a:r>
              <a:rPr lang="en-US" altLang="en-US" sz="1900" i="1"/>
              <a:t>The system must be cloud-based and ensure scalability.</a:t>
            </a:r>
            <a:endParaRPr lang="en-US" altLang="en-US" sz="1900" i="1"/>
          </a:p>
          <a:p>
            <a:pPr marL="0" indent="0">
              <a:buNone/>
            </a:pPr>
            <a:endParaRPr lang="en-US" altLang="en-US" sz="1900" i="1"/>
          </a:p>
          <a:p>
            <a:r>
              <a:rPr lang="en-US" altLang="en-US" sz="1900" b="1" i="1"/>
              <a:t>R0</a:t>
            </a:r>
            <a:r>
              <a:rPr lang="en-PH" altLang="en-US" sz="1900" b="1" i="1"/>
              <a:t>4</a:t>
            </a:r>
            <a:r>
              <a:rPr lang="en-US" altLang="en-US" sz="1900" b="1" i="1"/>
              <a:t>.01 </a:t>
            </a:r>
            <a:r>
              <a:rPr lang="en-US" altLang="en-US" sz="1900" i="1"/>
              <a:t>The system must use MongoDB Atlas or MySQL for cloud-based data storage.</a:t>
            </a:r>
            <a:endParaRPr lang="en-US" altLang="en-US" sz="1900" i="1"/>
          </a:p>
          <a:p>
            <a:endParaRPr lang="en-US" altLang="en-US" sz="1900" i="1"/>
          </a:p>
          <a:p>
            <a:r>
              <a:rPr lang="en-US" altLang="en-US" sz="1900" b="1" i="1"/>
              <a:t>R0</a:t>
            </a:r>
            <a:r>
              <a:rPr lang="en-PH" altLang="en-US" sz="1900" b="1" i="1"/>
              <a:t>4</a:t>
            </a:r>
            <a:r>
              <a:rPr lang="en-US" altLang="en-US" sz="1900" b="1" i="1"/>
              <a:t>.0</a:t>
            </a:r>
            <a:r>
              <a:rPr lang="en-PH" altLang="en-US" sz="1900" b="1" i="1"/>
              <a:t>2 </a:t>
            </a:r>
            <a:r>
              <a:rPr lang="en-US" altLang="en-US" sz="1900" i="1"/>
              <a:t>The system must be accessible and scalable.</a:t>
            </a:r>
            <a:endParaRPr lang="en-US" altLang="en-US" sz="1900" i="1"/>
          </a:p>
          <a:p>
            <a:endParaRPr lang="en-US" altLang="en-US" sz="1900" i="1"/>
          </a:p>
          <a:p>
            <a:r>
              <a:rPr lang="en-US" altLang="en-US" sz="1900" b="1" i="1"/>
              <a:t>R0</a:t>
            </a:r>
            <a:r>
              <a:rPr lang="en-PH" altLang="en-US" sz="1900" b="1" i="1"/>
              <a:t>4</a:t>
            </a:r>
            <a:r>
              <a:rPr lang="en-US" altLang="en-US" sz="1900" b="1" i="1"/>
              <a:t>.03 </a:t>
            </a:r>
            <a:r>
              <a:rPr lang="en-US" altLang="en-US" sz="1900" i="1"/>
              <a:t>The system must not provide an API for integration with other university systems.</a:t>
            </a:r>
            <a:endParaRPr lang="en-US" altLang="en-US" sz="1900" i="1"/>
          </a:p>
        </p:txBody>
      </p:sp>
      <p:sp>
        <p:nvSpPr>
          <p:cNvPr id="8" name="Diamond 7"/>
          <p:cNvSpPr/>
          <p:nvPr/>
        </p:nvSpPr>
        <p:spPr>
          <a:xfrm>
            <a:off x="160020" y="659765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-1062355" y="533844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9" name="Diamond 8"/>
          <p:cNvSpPr/>
          <p:nvPr/>
        </p:nvSpPr>
        <p:spPr>
          <a:xfrm>
            <a:off x="731520" y="484632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" name="Diamond 9"/>
          <p:cNvSpPr/>
          <p:nvPr/>
        </p:nvSpPr>
        <p:spPr>
          <a:xfrm>
            <a:off x="1910080" y="608457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Diamond 10"/>
          <p:cNvSpPr/>
          <p:nvPr/>
        </p:nvSpPr>
        <p:spPr>
          <a:xfrm>
            <a:off x="2583815" y="439420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2" name="Diamond 11"/>
          <p:cNvSpPr/>
          <p:nvPr/>
        </p:nvSpPr>
        <p:spPr>
          <a:xfrm>
            <a:off x="3817620" y="565277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111115" y="693737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Diamond 13"/>
          <p:cNvSpPr/>
          <p:nvPr/>
        </p:nvSpPr>
        <p:spPr>
          <a:xfrm>
            <a:off x="5496560" y="498919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5" name="Diamond 14"/>
          <p:cNvSpPr/>
          <p:nvPr/>
        </p:nvSpPr>
        <p:spPr>
          <a:xfrm>
            <a:off x="6730365" y="624776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6" name="Diamond 15"/>
          <p:cNvSpPr/>
          <p:nvPr/>
        </p:nvSpPr>
        <p:spPr>
          <a:xfrm>
            <a:off x="7247255" y="450659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7" name="Diamond 16"/>
          <p:cNvSpPr/>
          <p:nvPr/>
        </p:nvSpPr>
        <p:spPr>
          <a:xfrm>
            <a:off x="8481060" y="576516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s 4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5. </a:t>
            </a:r>
            <a:r>
              <a:rPr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Deployment Timeline</a:t>
            </a:r>
            <a:endParaRPr sz="32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6450"/>
            <a:ext cx="8229600" cy="4525963"/>
          </a:xfrm>
        </p:spPr>
        <p:txBody>
          <a:bodyPr/>
          <a:lstStyle/>
          <a:p>
            <a:r>
              <a:rPr lang="en-US" altLang="en-US" sz="1900" b="1" i="1"/>
              <a:t>R0</a:t>
            </a:r>
            <a:r>
              <a:rPr lang="en-PH" altLang="en-US" sz="1900" b="1" i="1"/>
              <a:t>5</a:t>
            </a:r>
            <a:r>
              <a:rPr lang="en-US" altLang="en-US" sz="1900" b="1" i="1"/>
              <a:t>.</a:t>
            </a:r>
            <a:r>
              <a:rPr lang="en-US" altLang="en-US" sz="1900" i="1"/>
              <a:t> On May 15, 2025 is the initial checking for the system.</a:t>
            </a:r>
            <a:endParaRPr lang="en-US" altLang="en-US" sz="1900" i="1"/>
          </a:p>
          <a:p>
            <a:endParaRPr lang="en-US" altLang="en-US" sz="1900" i="1"/>
          </a:p>
          <a:p>
            <a:r>
              <a:rPr lang="en-US" altLang="en-US" sz="1900" b="1" i="1"/>
              <a:t>R0</a:t>
            </a:r>
            <a:r>
              <a:rPr lang="en-PH" altLang="en-US" sz="1900" b="1" i="1"/>
              <a:t>6</a:t>
            </a:r>
            <a:r>
              <a:rPr lang="en-US" altLang="en-US" sz="1900" b="1" i="1"/>
              <a:t>. </a:t>
            </a:r>
            <a:r>
              <a:rPr lang="en-US" altLang="en-US" sz="1900" i="1"/>
              <a:t>The system must be fully operational and deployed on May 22, 2025.</a:t>
            </a:r>
            <a:endParaRPr lang="en-US" altLang="en-US" sz="1900" i="1"/>
          </a:p>
        </p:txBody>
      </p:sp>
      <p:sp>
        <p:nvSpPr>
          <p:cNvPr id="8" name="Diamond 7"/>
          <p:cNvSpPr/>
          <p:nvPr/>
        </p:nvSpPr>
        <p:spPr>
          <a:xfrm>
            <a:off x="160020" y="588327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-1062355" y="462407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9" name="Diamond 8"/>
          <p:cNvSpPr/>
          <p:nvPr/>
        </p:nvSpPr>
        <p:spPr>
          <a:xfrm>
            <a:off x="731520" y="413194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" name="Diamond 9"/>
          <p:cNvSpPr/>
          <p:nvPr/>
        </p:nvSpPr>
        <p:spPr>
          <a:xfrm>
            <a:off x="1910080" y="537019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Diamond 10"/>
          <p:cNvSpPr/>
          <p:nvPr/>
        </p:nvSpPr>
        <p:spPr>
          <a:xfrm>
            <a:off x="2583815" y="367982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2" name="Diamond 11"/>
          <p:cNvSpPr/>
          <p:nvPr/>
        </p:nvSpPr>
        <p:spPr>
          <a:xfrm>
            <a:off x="3817620" y="493839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111115" y="622300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Diamond 13"/>
          <p:cNvSpPr/>
          <p:nvPr/>
        </p:nvSpPr>
        <p:spPr>
          <a:xfrm>
            <a:off x="5496560" y="427482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5" name="Diamond 14"/>
          <p:cNvSpPr/>
          <p:nvPr/>
        </p:nvSpPr>
        <p:spPr>
          <a:xfrm>
            <a:off x="6730365" y="553339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6" name="Diamond 15"/>
          <p:cNvSpPr/>
          <p:nvPr/>
        </p:nvSpPr>
        <p:spPr>
          <a:xfrm>
            <a:off x="7247255" y="379222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7" name="Diamond 16"/>
          <p:cNvSpPr/>
          <p:nvPr/>
        </p:nvSpPr>
        <p:spPr>
          <a:xfrm>
            <a:off x="8481060" y="505079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Diamond 7"/>
          <p:cNvSpPr/>
          <p:nvPr/>
        </p:nvSpPr>
        <p:spPr>
          <a:xfrm rot="5760000">
            <a:off x="160020" y="588327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Conclusion</a:t>
            </a:r>
            <a:endParaRPr sz="32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1510"/>
            <a:ext cx="8229600" cy="4525963"/>
          </a:xfrm>
        </p:spPr>
        <p:txBody>
          <a:bodyPr/>
          <a:lstStyle/>
          <a:p>
            <a:pPr algn="just"/>
            <a:r>
              <a:rPr lang="en-PH" sz="2800" i="1">
                <a:latin typeface="+mj-lt"/>
                <a:cs typeface="+mj-lt"/>
              </a:rPr>
              <a:t>By following these structured requirements, the system will simply attendance management,enhance security, and improve data accessibility, ensuring a more efficient process for students and instructors alike</a:t>
            </a:r>
            <a:endParaRPr lang="en-PH" sz="2800" i="1">
              <a:latin typeface="+mj-lt"/>
              <a:cs typeface="+mj-lt"/>
            </a:endParaRPr>
          </a:p>
        </p:txBody>
      </p:sp>
      <p:sp>
        <p:nvSpPr>
          <p:cNvPr id="7" name="Diamond 6"/>
          <p:cNvSpPr/>
          <p:nvPr/>
        </p:nvSpPr>
        <p:spPr>
          <a:xfrm rot="5760000">
            <a:off x="-1062355" y="462407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9" name="Diamond 8"/>
          <p:cNvSpPr/>
          <p:nvPr/>
        </p:nvSpPr>
        <p:spPr>
          <a:xfrm rot="5760000">
            <a:off x="731520" y="413194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" name="Diamond 9"/>
          <p:cNvSpPr/>
          <p:nvPr/>
        </p:nvSpPr>
        <p:spPr>
          <a:xfrm rot="5760000">
            <a:off x="1910080" y="537019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Diamond 10"/>
          <p:cNvSpPr/>
          <p:nvPr/>
        </p:nvSpPr>
        <p:spPr>
          <a:xfrm rot="5760000">
            <a:off x="2583815" y="367982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2" name="Diamond 11"/>
          <p:cNvSpPr/>
          <p:nvPr/>
        </p:nvSpPr>
        <p:spPr>
          <a:xfrm rot="5760000">
            <a:off x="3817620" y="4938395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3" name="Diamond 12"/>
          <p:cNvSpPr/>
          <p:nvPr/>
        </p:nvSpPr>
        <p:spPr>
          <a:xfrm rot="5760000">
            <a:off x="5111115" y="622300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Diamond 13"/>
          <p:cNvSpPr/>
          <p:nvPr/>
        </p:nvSpPr>
        <p:spPr>
          <a:xfrm rot="5760000">
            <a:off x="5496560" y="427482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5" name="Diamond 14"/>
          <p:cNvSpPr/>
          <p:nvPr/>
        </p:nvSpPr>
        <p:spPr>
          <a:xfrm rot="5760000">
            <a:off x="6730365" y="553339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6" name="Diamond 15"/>
          <p:cNvSpPr/>
          <p:nvPr/>
        </p:nvSpPr>
        <p:spPr>
          <a:xfrm rot="5760000">
            <a:off x="7247255" y="379222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7" name="Diamond 16"/>
          <p:cNvSpPr/>
          <p:nvPr/>
        </p:nvSpPr>
        <p:spPr>
          <a:xfrm rot="5760000">
            <a:off x="8481060" y="5050790"/>
            <a:ext cx="1988185" cy="2091055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2504</Words>
  <Application>WPS Presentation</Application>
  <PresentationFormat>On-screen Show (4:3)</PresentationFormat>
  <Paragraphs>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Arial Black</vt:lpstr>
      <vt:lpstr>Calibri</vt:lpstr>
      <vt:lpstr>Microsoft YaHei</vt:lpstr>
      <vt:lpstr>Arial Unicode MS</vt:lpstr>
      <vt:lpstr>Office Theme</vt:lpstr>
      <vt:lpstr>Attendance Tracking System   Project Requirements</vt:lpstr>
      <vt:lpstr>1. User Management Requirements</vt:lpstr>
      <vt:lpstr>2. Attendance Tracking Requirements</vt:lpstr>
      <vt:lpstr>3. Security Requirements</vt:lpstr>
      <vt:lpstr>4. Infrastructure &amp; Deployment Requirements</vt:lpstr>
      <vt:lpstr>5. Deployment Timeline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LODZ RAN</cp:lastModifiedBy>
  <cp:revision>18</cp:revision>
  <dcterms:created xsi:type="dcterms:W3CDTF">2013-01-27T09:14:00Z</dcterms:created>
  <dcterms:modified xsi:type="dcterms:W3CDTF">2025-05-26T03:22:41Z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26C21FD5133B470D800FF29CF9278906_12</vt:lpwstr>
  </property>
  <property fmtid="{D5CDD505-2E9C-101B-9397-08002B2CF9AE}" pid="3" name="KSOProductBuildVer">
    <vt:lpwstr>1033-12.2.0.13213</vt:lpwstr>
  </property>
</Properties>
</file>